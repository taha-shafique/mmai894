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handoutMasterIdLst>
    <p:handoutMasterId r:id="rId7"/>
  </p:handoutMasterIdLst>
  <p:sldIdLst>
    <p:sldId id="285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5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13" autoAdjust="0"/>
    <p:restoredTop sz="94641"/>
  </p:normalViewPr>
  <p:slideViewPr>
    <p:cSldViewPr snapToGrid="0" snapToObjects="1">
      <p:cViewPr varScale="1">
        <p:scale>
          <a:sx n="110" d="100"/>
          <a:sy n="110" d="100"/>
        </p:scale>
        <p:origin x="708" y="78"/>
      </p:cViewPr>
      <p:guideLst>
        <p:guide orient="horz" pos="1620"/>
        <p:guide pos="55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napToObjects="1" showGuides="1">
      <p:cViewPr varScale="1">
        <p:scale>
          <a:sx n="78" d="100"/>
          <a:sy n="78" d="100"/>
        </p:scale>
        <p:origin x="2598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526FD-119D-441C-B9F7-AB5BC1DC8F9E}" type="datetimeFigureOut">
              <a:rPr lang="en-US" smtClean="0"/>
              <a:t>1/25/2021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24B63-1FD6-43A1-9E86-15CABBB9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73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C7C03-8B95-45EC-ADB0-74DDFC840952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86929" y="4883757"/>
            <a:ext cx="6482431" cy="3343275"/>
            <a:chOff x="79204" y="5519738"/>
            <a:chExt cx="6910801" cy="3343275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79204" y="5519738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79204" y="5999163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79204" y="6473825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79204" y="6954838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79204" y="7427913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79204" y="7905750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79204" y="8382000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79204" y="8863013"/>
              <a:ext cx="6910801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lIns="90579" tIns="45289" rIns="90579" bIns="45289" anchor="ctr"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49853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ltGray"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20832" y="678129"/>
            <a:ext cx="7546228" cy="1375834"/>
          </a:xfrm>
          <a:prstGeom prst="rect">
            <a:avLst/>
          </a:prstGeom>
        </p:spPr>
        <p:txBody>
          <a:bodyPr lIns="0" rIns="0" anchor="b" anchorCtr="0">
            <a:normAutofit/>
          </a:bodyPr>
          <a:lstStyle>
            <a:lvl1pPr algn="l">
              <a:defRPr sz="3600" baseline="0"/>
            </a:lvl1pPr>
          </a:lstStyle>
          <a:p>
            <a:r>
              <a:rPr lang="en-US" dirty="0"/>
              <a:t>CLICK TO EDIT SESSION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0831" y="2053963"/>
            <a:ext cx="7567594" cy="120032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Program Name                                                                            Date (e.g. July 1 to July 9, 2011)                                  Speaker/Faculty Name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249" y="760780"/>
            <a:ext cx="8469009" cy="38338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49249" y="44624"/>
            <a:ext cx="7500665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766770"/>
            <a:ext cx="7772400" cy="3559962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00" b="1" cap="none" baseline="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8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49249" y="44624"/>
            <a:ext cx="7500665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27490" y="4869656"/>
            <a:ext cx="1116510" cy="273844"/>
          </a:xfrm>
        </p:spPr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27490" y="4869656"/>
            <a:ext cx="1116510" cy="273844"/>
          </a:xfrm>
        </p:spPr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3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0780"/>
            <a:ext cx="3008313" cy="76077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0780"/>
            <a:ext cx="5111750" cy="383384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87454"/>
            <a:ext cx="3008313" cy="30071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027490" y="4869656"/>
            <a:ext cx="11165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27490" y="4869656"/>
            <a:ext cx="11165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49249" y="44624"/>
            <a:ext cx="7500665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49250" y="764704"/>
            <a:ext cx="8445500" cy="3961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67" r:id="rId3"/>
    <p:sldLayoutId id="2147493458" r:id="rId4"/>
    <p:sldLayoutId id="2147493460" r:id="rId5"/>
    <p:sldLayoutId id="2147493461" r:id="rId6"/>
    <p:sldLayoutId id="2147493462" r:id="rId7"/>
    <p:sldLayoutId id="2147493468" r:id="rId8"/>
    <p:sldLayoutId id="2147493463" r:id="rId9"/>
    <p:sldLayoutId id="2147493464" r:id="rId10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Rubric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933338"/>
              </p:ext>
            </p:extLst>
          </p:nvPr>
        </p:nvGraphicFramePr>
        <p:xfrm>
          <a:off x="91880" y="749990"/>
          <a:ext cx="8965036" cy="45046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2177">
                  <a:extLst>
                    <a:ext uri="{9D8B030D-6E8A-4147-A177-3AD203B41FA5}">
                      <a16:colId xmlns:a16="http://schemas.microsoft.com/office/drawing/2014/main" val="2413927992"/>
                    </a:ext>
                  </a:extLst>
                </a:gridCol>
                <a:gridCol w="1908629">
                  <a:extLst>
                    <a:ext uri="{9D8B030D-6E8A-4147-A177-3AD203B41FA5}">
                      <a16:colId xmlns:a16="http://schemas.microsoft.com/office/drawing/2014/main" val="933776601"/>
                    </a:ext>
                  </a:extLst>
                </a:gridCol>
                <a:gridCol w="1908629">
                  <a:extLst>
                    <a:ext uri="{9D8B030D-6E8A-4147-A177-3AD203B41FA5}">
                      <a16:colId xmlns:a16="http://schemas.microsoft.com/office/drawing/2014/main" val="3427702491"/>
                    </a:ext>
                  </a:extLst>
                </a:gridCol>
                <a:gridCol w="1908629">
                  <a:extLst>
                    <a:ext uri="{9D8B030D-6E8A-4147-A177-3AD203B41FA5}">
                      <a16:colId xmlns:a16="http://schemas.microsoft.com/office/drawing/2014/main" val="1432802943"/>
                    </a:ext>
                  </a:extLst>
                </a:gridCol>
                <a:gridCol w="1908629">
                  <a:extLst>
                    <a:ext uri="{9D8B030D-6E8A-4147-A177-3AD203B41FA5}">
                      <a16:colId xmlns:a16="http://schemas.microsoft.com/office/drawing/2014/main" val="1504702147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274025958"/>
                    </a:ext>
                  </a:extLst>
                </a:gridCol>
              </a:tblGrid>
              <a:tr h="263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dirty="0">
                          <a:effectLst/>
                        </a:rPr>
                        <a:t>Category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Excellent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Good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Acceptable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Unacceptable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dirty="0">
                          <a:effectLst/>
                        </a:rPr>
                        <a:t>Pts.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 anchor="ctr"/>
                </a:tc>
                <a:extLst>
                  <a:ext uri="{0D108BD9-81ED-4DB2-BD59-A6C34878D82A}">
                    <a16:rowId xmlns:a16="http://schemas.microsoft.com/office/drawing/2014/main" val="1654564519"/>
                  </a:ext>
                </a:extLst>
              </a:tr>
              <a:tr h="6547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Business Problem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Create a compelling</a:t>
                      </a:r>
                      <a:r>
                        <a:rPr lang="en-US" sz="800" u="none" strike="noStrike" baseline="0" dirty="0">
                          <a:effectLst/>
                        </a:rPr>
                        <a:t> business problem and e</a:t>
                      </a:r>
                      <a:r>
                        <a:rPr lang="en-US" sz="800" u="none" strike="noStrike" dirty="0">
                          <a:effectLst/>
                        </a:rPr>
                        <a:t>ffectively explains how the model will address it. The impact the model will have</a:t>
                      </a:r>
                      <a:r>
                        <a:rPr lang="en-US" sz="800" u="none" strike="noStrike" baseline="0" dirty="0">
                          <a:effectLst/>
                        </a:rPr>
                        <a:t> is clearly discussed and evaluated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Effectively explains how the model will address the business problem,</a:t>
                      </a:r>
                      <a:r>
                        <a:rPr lang="en-US" sz="800" u="none" strike="noStrike" baseline="0" dirty="0">
                          <a:effectLst/>
                        </a:rPr>
                        <a:t> and the potential impact is addressed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 Explains how the model will address the business problem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Does not sufficiently connect</a:t>
                      </a:r>
                      <a:r>
                        <a:rPr lang="en-US" sz="800" u="none" strike="noStrike" baseline="0" dirty="0">
                          <a:effectLst/>
                        </a:rPr>
                        <a:t> the ML problem to a business problem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2117012224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Results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Clearly states and justifies conclusions with compelling</a:t>
                      </a:r>
                      <a:r>
                        <a:rPr lang="en-US" sz="800" u="none" strike="noStrike" baseline="0" dirty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</a:rPr>
                        <a:t>supporting evidence, to technical and non-technical audience. Results are shown in a logical fashion that</a:t>
                      </a:r>
                      <a:r>
                        <a:rPr lang="en-US" sz="800" u="none" strike="noStrike" baseline="0" dirty="0">
                          <a:effectLst/>
                        </a:rPr>
                        <a:t> is easy to follow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Clearly states and justifies conclusions with sufficient supporting evidence, to different audiences.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 States and mostly justifies conclusions with supporting evidence, to different audiences.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Conclusions</a:t>
                      </a: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are not clearly drawn, evidence is sufficient to support conclusions, or presented in a confusing manner.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2828013517"/>
                  </a:ext>
                </a:extLst>
              </a:tr>
              <a:tr h="4898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Preprocessing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Clearly summarizes the data for the CSO. Clearly explains how biases were addressed, and what preprocessing was done and why. Preprocessing is</a:t>
                      </a:r>
                      <a:r>
                        <a:rPr lang="en-US" sz="800" u="none" strike="noStrike" baseline="0" dirty="0">
                          <a:effectLst/>
                        </a:rPr>
                        <a:t> comprehensive.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Summarizes the data for the CSO and effectively explains what preprocessing was done, and whether there were any biases. Preprocessing</a:t>
                      </a:r>
                      <a:r>
                        <a:rPr lang="en-US" sz="800" u="none" strike="noStrike" baseline="0" dirty="0">
                          <a:effectLst/>
                        </a:rPr>
                        <a:t> is mostly comprehensive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Summarizes the data for the CSO. Effectively explains the preprocessing  but not the biases. Preprocessing is sufficient.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Either does not summarize data for CSO, or doesn't effectively explain the preprocessing. Preprocessing is absent</a:t>
                      </a:r>
                      <a:r>
                        <a:rPr lang="en-US" sz="800" u="none" strike="noStrike" baseline="0" dirty="0">
                          <a:effectLst/>
                        </a:rPr>
                        <a:t> or severely lacking.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897839095"/>
                  </a:ext>
                </a:extLst>
              </a:tr>
              <a:tr h="6839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Experimentation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Extensive experimentations. Clearly follows proper ML steps for training, validation, and testing. Justified hyper-parameter selection, addressing overfitting and biases, poor local minima.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Robust experimentation. Clearly follows proper ML steps for training, validation, and training. Some hyper-parameter tuning, addressing overfitting, local minima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Some experimentation. Clearly follows proper ML steps for training, validation, and testing. Limited hyper-parameter tuning.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Poor experimentation. Failure to follow proper ML steps. Overfitting, or inadequate hyper-parameter tuning.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1460034661"/>
                  </a:ext>
                </a:extLst>
              </a:tr>
              <a:tr h="5960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Extension to Production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Explains effectively the difficulties that will be faced in operationalizing this model. Clearly</a:t>
                      </a:r>
                      <a:r>
                        <a:rPr lang="en-US" sz="800" u="none" strike="noStrike" baseline="0" dirty="0">
                          <a:effectLst/>
                        </a:rPr>
                        <a:t> discussing solutions, and approaches to operationalization and scaling.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Explains the difficulties around this model in comparison to others, and difficulties around deep learning deployment in general. High</a:t>
                      </a:r>
                      <a:r>
                        <a:rPr lang="en-US" sz="800" u="none" strike="noStrike" baseline="0" dirty="0">
                          <a:effectLst/>
                        </a:rPr>
                        <a:t> level plan to operationalization.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Explains the difficulties in general of operationalizing deep learning models.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Does not explain relevant information about productionizing deep learning models.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2806894787"/>
                  </a:ext>
                </a:extLst>
              </a:tr>
              <a:tr h="5869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Design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Clearly justifies the use of deep learning, and architecture. Data</a:t>
                      </a:r>
                      <a:r>
                        <a:rPr lang="en-US" sz="800" u="none" strike="noStrike" baseline="0" dirty="0">
                          <a:effectLst/>
                        </a:rPr>
                        <a:t> and problem are laid out logically, and comparison to pre-trained models using transfer learning is shown where appropriate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Clearly justifies the use of deep learning. Architecture is mostly justified, and some comparison</a:t>
                      </a:r>
                      <a:r>
                        <a:rPr lang="en-US" sz="800" u="none" strike="noStrike" baseline="0" dirty="0">
                          <a:effectLst/>
                        </a:rPr>
                        <a:t> to pre-trained models is shown where appropriate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Justifies the use of deep learning. Does not effectively justify the architecture and does not make proper use of transfer learning, or no</a:t>
                      </a:r>
                      <a:r>
                        <a:rPr lang="en-US" sz="800" u="none" strike="noStrike" baseline="0" dirty="0">
                          <a:effectLst/>
                        </a:rPr>
                        <a:t> attempt at novel model implementation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Does not effectively justify use of deep learning.</a:t>
                      </a:r>
                      <a:r>
                        <a:rPr lang="en-US" sz="800" u="none" strike="noStrike" baseline="0" dirty="0">
                          <a:effectLst/>
                        </a:rPr>
                        <a:t> Model architecture does not match data or problem.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15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3848848588"/>
                  </a:ext>
                </a:extLst>
              </a:tr>
              <a:tr h="5869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Implementation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4" marR="4254" marT="42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Clear, well organized, and concise code with comments and testing. No bugs, and easy to reproduce. Use of low level API in TF/</a:t>
                      </a:r>
                      <a:r>
                        <a:rPr lang="en-US" sz="800" u="none" strike="noStrike" dirty="0" err="1">
                          <a:effectLst/>
                        </a:rPr>
                        <a:t>PyTorch</a:t>
                      </a:r>
                      <a:r>
                        <a:rPr lang="en-US" sz="800" u="none" strike="noStrike" dirty="0">
                          <a:effectLst/>
                        </a:rPr>
                        <a:t> where appropriate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Clear code with comments, and easy to follow logic. No bugs and reproducible results. Good use of DL libraries following best practices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Functioning code with comments, and logical layout. No bugs and reproducible results. Good use of DL libraries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messy code with no comments. Difficult to follow and reproduce.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54" marR="4254" marT="4254" marB="0"/>
                </a:tc>
                <a:extLst>
                  <a:ext uri="{0D108BD9-81ED-4DB2-BD59-A6C34878D82A}">
                    <a16:rowId xmlns:a16="http://schemas.microsoft.com/office/drawing/2014/main" val="274857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299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9ED63223089A4AA9A71D319CAD7138" ma:contentTypeVersion="4" ma:contentTypeDescription="Create a new document." ma:contentTypeScope="" ma:versionID="690fd6ef49baa947bb0196a1a6e63797">
  <xsd:schema xmlns:xsd="http://www.w3.org/2001/XMLSchema" xmlns:xs="http://www.w3.org/2001/XMLSchema" xmlns:p="http://schemas.microsoft.com/office/2006/metadata/properties" xmlns:ns2="cdde7aea-89fd-45b0-a361-cd75b5945473" targetNamespace="http://schemas.microsoft.com/office/2006/metadata/properties" ma:root="true" ma:fieldsID="9950f9b6bd04b5c1cc983e289d69280d" ns2:_="">
    <xsd:import namespace="cdde7aea-89fd-45b0-a361-cd75b5945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de7aea-89fd-45b0-a361-cd75b5945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cdde7aea-89fd-45b0-a361-cd75b594547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AA338A-3389-49E0-9703-FD9B8A34AB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de7aea-89fd-45b0-a361-cd75b5945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20203</TotalTime>
  <Words>615</Words>
  <Application>Microsoft Office PowerPoint</Application>
  <PresentationFormat>On-screen Show (16:9)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Final Project Rubric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Brigid Shea Cleary</cp:lastModifiedBy>
  <cp:revision>180</cp:revision>
  <dcterms:created xsi:type="dcterms:W3CDTF">2010-04-12T23:12:02Z</dcterms:created>
  <dcterms:modified xsi:type="dcterms:W3CDTF">2021-01-25T17:39:45Z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0x0101003C9ED63223089A4AA9A71D319CAD7138</vt:lpwstr>
  </property>
</Properties>
</file>